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D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5400" b="1" i="0">
                <a:solidFill>
                  <a:srgbClr val="F4EFE6"/>
                </a:solidFill>
                <a:latin typeface="Calibri"/>
              </a:rPr>
              <a:t>[ Lesson Title ]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647C6E"/>
                </a:solidFill>
                <a:latin typeface="Calibri"/>
              </a:rPr>
              <a:t>[ Subject ]  ·  [ Grade ]  ·  [ Date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F4EFE6"/>
                </a:solidFill>
                <a:latin typeface="Calibri"/>
              </a:rPr>
              <a:t>Learning objective: [ students will be able to ___ ]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C9D3CC"/>
                </a:solidFill>
                <a:latin typeface="Calibri"/>
              </a:rPr>
              <a:t>Standard: [ ___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75488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647C6E"/>
                </a:solidFill>
                <a:latin typeface="Calibri"/>
              </a:rPr>
              <a:t>HOW TO USE: fill every [ bracket ], or hand this file to your AI tool and say</a:t>
            </a:r>
          </a:p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647C6E"/>
                </a:solidFill>
                <a:latin typeface="Calibri"/>
              </a:rPr>
              <a:t>“use this exact template; fill the brackets for a lesson on [topic].”  Keep the five stages.</a:t>
            </a:r>
          </a:p>
          <a:p>
            <a:pPr algn="l">
              <a:spcAft>
                <a:spcPts val="800"/>
              </a:spcAft>
            </a:pPr>
            <a:r>
              <a:rPr sz="1200" b="0" i="1">
                <a:solidFill>
                  <a:srgbClr val="8FA395"/>
                </a:solidFill>
                <a:latin typeface="Calibri"/>
              </a:rPr>
              <a:t>Free lesson-deck template  ·  Seymour Learning Insights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B85C3C"/>
                </a:solidFill>
                <a:latin typeface="Calibri"/>
              </a:rPr>
              <a:t>1 · HOOK / DO NOW   •   ~5 min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64008"/>
          </a:xfrm>
          <a:prstGeom prst="rect">
            <a:avLst/>
          </a:prstGeom>
          <a:solidFill>
            <a:srgbClr val="6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D3D43"/>
                </a:solidFill>
                <a:latin typeface="Calibri"/>
              </a:rPr>
              <a:t>[ Opening question or quick task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0" i="0">
                <a:solidFill>
                  <a:srgbClr val="2D3D43"/>
                </a:solidFill>
                <a:latin typeface="Calibri"/>
              </a:rPr>
              <a:t>•  [ A warm-up that activates prior knowledge ]</a:t>
            </a:r>
          </a:p>
          <a:p>
            <a:pPr algn="l">
              <a:spcAft>
                <a:spcPts val="1400"/>
              </a:spcAft>
            </a:pPr>
            <a:r>
              <a:rPr sz="2400" b="0" i="0">
                <a:solidFill>
                  <a:srgbClr val="2D3D43"/>
                </a:solidFill>
                <a:latin typeface="Calibri"/>
              </a:rPr>
              <a:t>•  [ Low-stakes; everyone can attempt it ]</a:t>
            </a:r>
          </a:p>
          <a:p>
            <a:pPr algn="l">
              <a:spcAft>
                <a:spcPts val="800"/>
              </a:spcAft>
            </a:pPr>
            <a:r>
              <a:rPr sz="2000" b="0" i="1">
                <a:solidFill>
                  <a:srgbClr val="647C6E"/>
                </a:solidFill>
                <a:latin typeface="Calibri"/>
              </a:rPr>
              <a:t>Scaffold: [ sentence starter or visual for students who need it 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B85C3C"/>
                </a:solidFill>
                <a:latin typeface="Calibri"/>
              </a:rPr>
              <a:t>2 · NEW MATERIAL (I do / We do)   •   ~15 min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64008"/>
          </a:xfrm>
          <a:prstGeom prst="rect">
            <a:avLst/>
          </a:prstGeom>
          <a:solidFill>
            <a:srgbClr val="6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D3D43"/>
                </a:solidFill>
                <a:latin typeface="Calibri"/>
              </a:rPr>
              <a:t>[ Key concept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583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0" i="0">
                <a:solidFill>
                  <a:srgbClr val="2D3D43"/>
                </a:solidFill>
                <a:latin typeface="Calibri"/>
              </a:rPr>
              <a:t>•  [ Teaching point 1 ]</a:t>
            </a:r>
          </a:p>
          <a:p>
            <a:pPr algn="l">
              <a:spcAft>
                <a:spcPts val="1400"/>
              </a:spcAft>
            </a:pPr>
            <a:r>
              <a:rPr sz="2400" b="0" i="0">
                <a:solidFill>
                  <a:srgbClr val="2D3D43"/>
                </a:solidFill>
                <a:latin typeface="Calibri"/>
              </a:rPr>
              <a:t>•  [ Teaching point 2 ]</a:t>
            </a:r>
          </a:p>
          <a:p>
            <a:pPr algn="l">
              <a:spcAft>
                <a:spcPts val="1400"/>
              </a:spcAft>
            </a:pPr>
            <a:r>
              <a:rPr sz="2400" b="0" i="0">
                <a:solidFill>
                  <a:srgbClr val="2D3D43"/>
                </a:solidFill>
                <a:latin typeface="Calibri"/>
              </a:rPr>
              <a:t>•  [ Worked example ]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2651760"/>
            <a:ext cx="3566160" cy="3108960"/>
          </a:xfrm>
          <a:prstGeom prst="rect">
            <a:avLst/>
          </a:prstGeom>
          <a:solidFill>
            <a:srgbClr val="E7DFD0"/>
          </a:solidFill>
          <a:ln>
            <a:solidFill>
              <a:srgbClr val="647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6B6B6B"/>
                </a:solidFill>
                <a:latin typeface="Calibri"/>
              </a:rPr>
              <a:t>[ Diagram / visual / model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B85C3C"/>
                </a:solidFill>
                <a:latin typeface="Calibri"/>
              </a:rPr>
              <a:t>3 · PRACTICE / ACTIVITY   •   ~20 min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64008"/>
          </a:xfrm>
          <a:prstGeom prst="rect">
            <a:avLst/>
          </a:prstGeom>
          <a:solidFill>
            <a:srgbClr val="647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D3D43"/>
                </a:solidFill>
                <a:latin typeface="Calibri"/>
              </a:rPr>
              <a:t>[ The task students do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583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2D3D43"/>
                </a:solidFill>
                <a:latin typeface="Calibri"/>
              </a:rPr>
              <a:t>•  [ Step 1 ]</a:t>
            </a:r>
          </a:p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2D3D43"/>
                </a:solidFill>
                <a:latin typeface="Calibri"/>
              </a:rPr>
              <a:t>•  [ Step 2 ]</a:t>
            </a:r>
          </a:p>
          <a:p>
            <a:pPr algn="l">
              <a:spcAft>
                <a:spcPts val="1200"/>
              </a:spcAft>
            </a:pPr>
            <a:r>
              <a:rPr sz="2200" b="0" i="1">
                <a:solidFill>
                  <a:srgbClr val="647C6E"/>
                </a:solidFill>
                <a:latin typeface="Calibri"/>
              </a:rPr>
              <a:t>Partner talk: “I think ___ because ___”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2651760"/>
            <a:ext cx="3566160" cy="3108960"/>
          </a:xfrm>
          <a:prstGeom prst="rect">
            <a:avLst/>
          </a:prstGeom>
          <a:solidFill>
            <a:srgbClr val="ECD9CF"/>
          </a:solidFill>
          <a:ln>
            <a:solidFill>
              <a:srgbClr val="B85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000"/>
              </a:spcAft>
            </a:pPr>
            <a:r>
              <a:rPr sz="1600" b="1" i="0">
                <a:solidFill>
                  <a:srgbClr val="B85C3C"/>
                </a:solidFill>
                <a:latin typeface="Calibri"/>
              </a:rPr>
              <a:t>DIFFERENTIATION</a:t>
            </a:r>
          </a:p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2D3D43"/>
                </a:solidFill>
                <a:latin typeface="Calibri"/>
              </a:rPr>
              <a:t>[ scaffold for IEP/504 ]</a:t>
            </a:r>
          </a:p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2D3D43"/>
                </a:solidFill>
                <a:latin typeface="Calibri"/>
              </a:rPr>
              <a:t>[ language support ]</a:t>
            </a:r>
          </a:p>
          <a:p>
            <a:pPr algn="ctr">
              <a:spcAft>
                <a:spcPts val="800"/>
              </a:spcAft>
            </a:pPr>
            <a:r>
              <a:rPr sz="1600" b="0" i="0">
                <a:solidFill>
                  <a:srgbClr val="2D3D43"/>
                </a:solidFill>
                <a:latin typeface="Calibri"/>
              </a:rPr>
              <a:t>[ extension for early finishers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D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47C6E"/>
                </a:solidFill>
                <a:latin typeface="Calibri"/>
              </a:rPr>
              <a:t>4 · CLOSE / EXIT TICKET   •   ~5 min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64008"/>
          </a:xfrm>
          <a:prstGeom prst="rect">
            <a:avLst/>
          </a:prstGeom>
          <a:solidFill>
            <a:srgbClr val="B85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 i="0">
                <a:solidFill>
                  <a:srgbClr val="F4EFE6"/>
                </a:solidFill>
                <a:latin typeface="Calibri"/>
              </a:rPr>
              <a:t>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600" b="0" i="0">
                <a:solidFill>
                  <a:srgbClr val="F4EFE6"/>
                </a:solidFill>
                <a:latin typeface="Calibri"/>
              </a:rPr>
              <a:t>1.  [ Question that checks the objective ]</a:t>
            </a:r>
          </a:p>
          <a:p>
            <a:pPr algn="l">
              <a:spcAft>
                <a:spcPts val="1800"/>
              </a:spcAft>
            </a:pPr>
            <a:r>
              <a:rPr sz="2600" b="0" i="0">
                <a:solidFill>
                  <a:srgbClr val="F4EFE6"/>
                </a:solidFill>
                <a:latin typeface="Calibri"/>
              </a:rPr>
              <a:t>2.  [ One more, slightly harder ]</a:t>
            </a:r>
          </a:p>
          <a:p>
            <a:pPr algn="l">
              <a:spcAft>
                <a:spcPts val="800"/>
              </a:spcAft>
            </a:pPr>
            <a:r>
              <a:rPr sz="2000" b="0" i="1">
                <a:solidFill>
                  <a:srgbClr val="647C6E"/>
                </a:solidFill>
                <a:latin typeface="Calibri"/>
              </a:rPr>
              <a:t>Reflection: [ one thing you learned / one question you still have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